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6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Répartition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A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2D4-8143-B981-A3EDB2200359}"/>
              </c:ext>
            </c:extLst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2D4-8143-B981-A3EDB2200359}"/>
              </c:ext>
            </c:extLst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2D4-8143-B981-A3EDB220035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2D4-8143-B981-A3EDB220035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2D4-8143-B981-A3EDB220035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2D4-8143-B981-A3EDB220035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Avec masque (698)</c:v>
                </c:pt>
                <c:pt idx="1">
                  <c:v>Sans masque (119)</c:v>
                </c:pt>
                <c:pt idx="2">
                  <c:v>Mal porté (36)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698</c:v>
                </c:pt>
                <c:pt idx="1">
                  <c:v>119</c:v>
                </c:pt>
                <c:pt idx="2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2D4-8143-B981-A3EDB22003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SN" sz="1200" b="0" i="0" u="none" strike="noStrike">
                <a:solidFill>
                  <a:srgbClr val="000000"/>
                </a:solidFill>
                <a:latin typeface="Arial"/>
              </a:rPr>
              <a:t>Accuracy par époque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0.4</c:v>
                </c:pt>
                <c:pt idx="1">
                  <c:v>0.53</c:v>
                </c:pt>
                <c:pt idx="2">
                  <c:v>0.57999999999999996</c:v>
                </c:pt>
                <c:pt idx="3">
                  <c:v>0.52</c:v>
                </c:pt>
                <c:pt idx="4">
                  <c:v>0.61</c:v>
                </c:pt>
                <c:pt idx="5">
                  <c:v>0.62</c:v>
                </c:pt>
                <c:pt idx="6">
                  <c:v>0.6</c:v>
                </c:pt>
                <c:pt idx="7">
                  <c:v>0.64</c:v>
                </c:pt>
                <c:pt idx="8">
                  <c:v>0.66</c:v>
                </c:pt>
                <c:pt idx="9">
                  <c:v>0.68</c:v>
                </c:pt>
                <c:pt idx="10">
                  <c:v>0.71</c:v>
                </c:pt>
                <c:pt idx="11">
                  <c:v>0.74</c:v>
                </c:pt>
                <c:pt idx="12">
                  <c:v>0.77</c:v>
                </c:pt>
                <c:pt idx="13">
                  <c:v>0.78</c:v>
                </c:pt>
                <c:pt idx="14">
                  <c:v>0.78</c:v>
                </c:pt>
                <c:pt idx="15">
                  <c:v>0.78</c:v>
                </c:pt>
                <c:pt idx="16">
                  <c:v>0.8</c:v>
                </c:pt>
                <c:pt idx="17">
                  <c:v>0.75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2B9-6D49-A071-A9CC2655812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flat">
              <a:solidFill>
                <a:srgbClr val="4ECDC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ECDC4"/>
              </a:solidFill>
              <a:ln w="9525" cap="flat">
                <a:solidFill>
                  <a:srgbClr val="4ECDC4"/>
                </a:solidFill>
                <a:prstDash val="solid"/>
                <a:round/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0.41</c:v>
                </c:pt>
                <c:pt idx="1">
                  <c:v>0.63</c:v>
                </c:pt>
                <c:pt idx="2">
                  <c:v>0.45</c:v>
                </c:pt>
                <c:pt idx="3">
                  <c:v>0.81</c:v>
                </c:pt>
                <c:pt idx="4">
                  <c:v>0.64</c:v>
                </c:pt>
                <c:pt idx="5">
                  <c:v>0.8</c:v>
                </c:pt>
                <c:pt idx="6">
                  <c:v>0.69</c:v>
                </c:pt>
                <c:pt idx="7">
                  <c:v>0.76</c:v>
                </c:pt>
                <c:pt idx="8">
                  <c:v>0.79</c:v>
                </c:pt>
                <c:pt idx="9">
                  <c:v>0.77</c:v>
                </c:pt>
                <c:pt idx="10">
                  <c:v>0.8</c:v>
                </c:pt>
                <c:pt idx="11">
                  <c:v>0.81</c:v>
                </c:pt>
                <c:pt idx="12">
                  <c:v>0.82</c:v>
                </c:pt>
                <c:pt idx="13">
                  <c:v>0.76</c:v>
                </c:pt>
                <c:pt idx="14">
                  <c:v>0.62</c:v>
                </c:pt>
                <c:pt idx="15">
                  <c:v>0.73</c:v>
                </c:pt>
                <c:pt idx="16">
                  <c:v>0.8</c:v>
                </c:pt>
                <c:pt idx="17">
                  <c:v>0.72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2B9-6D49-A071-A9CC265581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5139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titre. Présenter le sujet, le cours et le contexte. Mentionner que c'est le 3e projet (après Perceptron et MLP).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plan. 6 parties. Durée estimée : 15-20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contexte COVID-19. Insister sur les 3 classes du problème. Lire l'objectif.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déséquilibre des classes. Montrer que 36 images pour mask_weared_incorrect c'est très peu. Expliquer la correction par les poids de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transfer learning : on ne ré-entraîne pas les 154 couches de MobileNetV2, seulement les 5 couches qu'on a ajoutées. C'est plus rapide et plus efficace avec peu de données.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que le CNN est une extension du MLP. On a ajouté NOS PROPRES couches denses (comme en cours) au-dessus de MobileNetV2 qui sert d'extracteur de caractéristiques. C'est exactement le principe du Transfer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chaque paramètre simplement. Insister sur Early Stopping et les poids de classes car ce sont les deux choix les plus importants pour notre dataset déséquilibré.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L'accuracy globale de 82.84% est bonne. Expliquer pourquoi without_mask et mask_weared_incorrect ont de faibles métriques : manque de données (119 et 36 images). C'est une vraie problématique de Computer Vision documentée dans le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 pipeline complet : Colab pour l'entraînement, Hugging Face pour héberger le modèle comme API, GitHub Pages pour l'interface web. Montrer les deux URLs publiques.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DÉMO LIVE : ouvrir le navigateur sur https://fatou-fa.github.io/mask-detector/detection.html et uploader une photo de test. Montrer que le résultat s'affiche en quelques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soulignant les acquis : transfer learning, déploiement complet, pipeline de bout en bout. Mentionner les limites honnêtement et proposer des améliorations réalistes.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conclusion. Afficher la slide et ouvrir aux questions. Avoir l'application ouverte dans un autre onglet pour une démo live si demandé.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0" y="375475"/>
            <a:ext cx="5029200" cy="5029200"/>
          </a:xfrm>
          <a:prstGeom prst="ellipse">
            <a:avLst/>
          </a:prstGeom>
          <a:solidFill>
            <a:srgbClr val="2B4A9F">
              <a:alpha val="30000"/>
            </a:srgbClr>
          </a:solidFill>
          <a:ln w="12700">
            <a:solidFill>
              <a:srgbClr val="2B4A9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26380" y="2167128"/>
            <a:ext cx="3783330" cy="3200400"/>
          </a:xfrm>
          <a:prstGeom prst="ellipse">
            <a:avLst/>
          </a:prstGeom>
          <a:solidFill>
            <a:srgbClr val="4ECDC4">
              <a:alpha val="20000"/>
            </a:srgbClr>
          </a:solidFill>
          <a:ln w="12700">
            <a:solidFill>
              <a:srgbClr val="4ECDC4">
                <a:alpha val="20000"/>
              </a:srgbClr>
            </a:solidFill>
            <a:prstDash val="solid"/>
          </a:ln>
        </p:spPr>
        <p:txBody>
          <a:bodyPr/>
          <a:lstStyle/>
          <a:p>
            <a:r>
              <a:rPr lang="fr-FR" b="1" u="sng" dirty="0">
                <a:solidFill>
                  <a:schemeClr val="bg1"/>
                </a:solidFill>
              </a:rPr>
              <a:t>Groupe </a:t>
            </a:r>
            <a:r>
              <a:rPr lang="fr-FR" dirty="0">
                <a:solidFill>
                  <a:schemeClr val="bg1"/>
                </a:solidFill>
              </a:rPr>
              <a:t>:</a:t>
            </a:r>
          </a:p>
          <a:p>
            <a:r>
              <a:rPr lang="fr-FR" b="1" dirty="0">
                <a:solidFill>
                  <a:schemeClr val="bg1"/>
                </a:solidFill>
              </a:rPr>
              <a:t>Fatou Fall</a:t>
            </a:r>
          </a:p>
        </p:txBody>
      </p:sp>
      <p:sp>
        <p:nvSpPr>
          <p:cNvPr id="4" name="Shape 2"/>
          <p:cNvSpPr/>
          <p:nvPr/>
        </p:nvSpPr>
        <p:spPr>
          <a:xfrm>
            <a:off x="457200" y="5029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ECDC4">
              <a:alpha val="8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</a:rPr>
              <a:t>COMPUTER VISION · 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de Masque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Facial par Réseau de Neurones (MLP)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320040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d'Intelligence Artificielle — ING2 · Jeudi 16 Juillet 2026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 Polytechnique de Saint-Louis · Sous la supervision du Pr. Jean Marie Dembélé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4ECDC4">
              <a:alpha val="7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MobileNetV2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FFD21E">
              <a:alpha val="75000"/>
            </a:srgbClr>
          </a:solidFill>
          <a:ln w="12700">
            <a:solidFill>
              <a:srgbClr val="FFD2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Hugging Face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4114800"/>
            <a:ext cx="1920240" cy="365760"/>
          </a:xfrm>
          <a:prstGeom prst="roundRect">
            <a:avLst>
              <a:gd name="adj" fmla="val 12500"/>
            </a:avLst>
          </a:prstGeom>
          <a:solidFill>
            <a:srgbClr val="6EE7B7">
              <a:alpha val="75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</a:rPr>
              <a:t>GitHub Pages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801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3444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Problématique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détecter le masque 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28016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12070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&amp; Données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23560" y="16002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 Mask Detection — Kaggle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2860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du Modèle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&amp; Transfer Learning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28600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83480" y="246888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23560" y="23957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Évaluation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23560" y="2788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Accuracy, courbes, matrice de confusion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36576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+ Hugging Face API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3474720"/>
            <a:ext cx="420624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83480" y="3657600"/>
            <a:ext cx="502920" cy="502920"/>
          </a:xfrm>
          <a:prstGeom prst="roundRect">
            <a:avLst>
              <a:gd name="adj" fmla="val 909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657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623560" y="358444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23560" y="3977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Bilan et perspectives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— Contexte &amp; Problématique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pandémie de COVID-19 a mis en évidence le besoin de systèmes automatiques capables de vérifier le port du masque dans les lieux publics.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👁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Surveillance manuelle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Coûteuse, fatigante et peu fiable sur des flux importants de personnes.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20040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temps réel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système automatique doit analyser une image en moins d'une seconde.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783080"/>
            <a:ext cx="2651760" cy="2011680"/>
          </a:xfrm>
          <a:prstGeom prst="roundRect">
            <a:avLst>
              <a:gd name="adj" fmla="val 5455"/>
            </a:avLst>
          </a:prstGeom>
          <a:solidFill>
            <a:srgbClr val="DCFCE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1874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035040" y="24231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précise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28346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Distinguer 3 classes : avec masque, sans masque, masque mal porté.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931920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9319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 : Construire un système de Computer Vision capable de détecter automatiquement le port du masque facial sur une photo.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— Dataset &amp; Données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 Mask Detection Dataset — Kaggle (CC0-1.0)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totales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698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1460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Avec masque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119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66344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masque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508760"/>
            <a:ext cx="192024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1228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12280" y="22128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Masque incorrect</a:t>
            </a:r>
            <a:endParaRPr lang="en-US" sz="11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5303520" y="2834640"/>
          <a:ext cx="347472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365760" y="2834640"/>
            <a:ext cx="466344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88036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Déséquilibre des classes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3200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698 vs 119 vs 36 images — utilisation de poids de classes pour compenser ce déséquilibre lors de l'entraînement.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657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Prétraitement appliqué :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65760" y="41605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Redimensionnement à 224×224 pixels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 des pixels entre 0 et 1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Augmentation : rotation, zoom, flip horizontal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Architecture du Modèle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avec MobileNetV2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est un modèle léger pré-entraîné sur 1,4 million d'images (ImageNet). Le Transfer Learning réutilise ces connaissances pour notre tâche spécifique.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CADCFC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224×224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Entrée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7452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01168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2B4A9F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1168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 couches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Gelées (ImageNet)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1188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74904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4A90D9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4904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AvgPooling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Flatten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4904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4924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548640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4ECDC4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128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Dropout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86600" y="2560320"/>
            <a:ext cx="13716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223760" y="1965960"/>
            <a:ext cx="16002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 w="381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classes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23760" y="274320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3337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Paramètres d'entraînement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3749040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Optimiseur 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374904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965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409651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Categorical Crossentropy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443984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439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4439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(early stopping)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749040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749040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0" y="3749040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663440" y="4096512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096512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Couches entraînables 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096512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(tête uniquement)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63440" y="4443984"/>
            <a:ext cx="4023360" cy="301752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4443984"/>
            <a:ext cx="1645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: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4443984"/>
            <a:ext cx="21945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Pro (T4)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Pourquoi le Transfer Learning 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Progression du cours → notre projet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neurone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binaire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linéaire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3774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2450592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MLP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42032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couches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neurones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complexe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0832" y="23774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626864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75504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75504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Extension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26864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18304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+ couches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convolutives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les images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47104" y="237744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6803136" y="1463040"/>
            <a:ext cx="1920240" cy="1828800"/>
          </a:xfrm>
          <a:prstGeom prst="roundRect">
            <a:avLst>
              <a:gd name="adj" fmla="val 6000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51776" y="1508760"/>
            <a:ext cx="822960" cy="256032"/>
          </a:xfrm>
          <a:prstGeom prst="roundRect">
            <a:avLst>
              <a:gd name="adj" fmla="val 1428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51776" y="15087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03136" y="18288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94576" y="2286000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pré-entraîné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réutilisé pour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nos données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2900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EFF6FF"/>
          </a:solidFill>
          <a:ln w="6350">
            <a:solidFill>
              <a:srgbClr val="2B4A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9300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Analogie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3822192"/>
            <a:ext cx="5029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comme apprendre à conduire un camion quand on sait déjà conduire une voiture. On ne repart pas de zéro — on réutilise les compétences de base et on adapte seulement ce qui est spécifique au camion.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852160" y="3429000"/>
            <a:ext cx="3017520" cy="1508760"/>
          </a:xfrm>
          <a:prstGeom prst="roundRect">
            <a:avLst>
              <a:gd name="adj" fmla="val 6061"/>
            </a:avLst>
          </a:prstGeom>
          <a:solidFill>
            <a:srgbClr val="F0FDF4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493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fait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943600" y="3822192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gelé → extraction des formes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MLP ajouté → classification masque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 uniquement de notre partie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— Justification des Paramètres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Optimiseur : Adam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adapte automatiquement le taux d'apprentissage pour chaque paramètre. Plus efficace que SGD classique pour les réseaux de neurones avec peu de données.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Alternative : SGD (plus lent à converger)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2404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: Categorical Crossentropy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697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Adaptée aux problèmes de classification multi-classes (3 classes ici). Elle mesure l'écart entre les probabilités prédites et les vraies classes.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3209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Alternative : Binary Crossentropy (seulement pour 2 classes)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 : 20 + Early Stopping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epochs maximum, mais l'Early Stopping arrête l'entraînement automatiquement si la val_loss ne s'améliore plus pendant 5 epochs. Évite le surapprentissage.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453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Sans Early Stopping → risque de surapprentissage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00584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0789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size : 32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Compromis entre vitesse et stabilité. Trop petit (8) = entraînement lent. Trop grand (128) = mémoire GPU insuffisante et gradients moins précis.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88366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Testé avec 16 et 64, 32 donne les meilleurs résultats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33172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2404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: 0.5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26974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Désactive aléatoirement 50% des neurones à chaque epoch. Force le réseau à apprendre des caractéristiques robustes et réduit le surapprentissage.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46320" y="32095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Sans Dropout → surapprentissage sur nos 853 images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09160" y="3657600"/>
            <a:ext cx="4206240" cy="1207008"/>
          </a:xfrm>
          <a:prstGeom prst="roundRect">
            <a:avLst>
              <a:gd name="adj" fmla="val 7576"/>
            </a:avLst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0" y="3730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Poids de classes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40233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le déséquilibre (698 vs 119 vs 36 images). Donne plus d'importance aux classes minoritaires pour que le modèle ne les ignore pas.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5354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Sans poids → le modèle prédirait toujours 'with_mask'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— Résultats &amp; Évaluation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10058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10972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82.84%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3200400" y="1783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 de validation</a:t>
            </a:r>
            <a:endParaRPr lang="en-US" sz="11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2377440"/>
          <a:ext cx="43891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23774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par classe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88920"/>
          <a:ext cx="4023360" cy="183489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Précision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Avec masque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Sans masque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Masque incorrect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Global (weighted)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4754880"/>
            <a:ext cx="402336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47548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Faibles métriques sur classes minoritaires (données insuffisantes)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— Architecture de Déploiement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🧠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Entraînement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Colab Pro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Kaggle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T4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94560" y="228600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2450592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50592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50592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sauvegardé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50592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mask_detector.keras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2032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82.84% accuracy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 MB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70832" y="228600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626864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FF7ED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26864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26864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API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26864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Spaces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18304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+ CORS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publique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47104" y="2286000"/>
            <a:ext cx="25603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6803136" y="1005840"/>
            <a:ext cx="1920240" cy="256032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03136" y="10972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803136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03136" y="1965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94576" y="233172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+ JS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749040"/>
            <a:ext cx="859536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URLs publiques du projet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11480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Hugging Face : </a:t>
            </a:r>
            <a:r>
              <a:rPr lang="en-US" sz="1100" dirty="0">
                <a:solidFill>
                  <a:srgbClr val="2B4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https://fatoubintou2-mask-detector.hf.space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370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: </a:t>
            </a:r>
            <a:r>
              <a:rPr lang="en-US" sz="1100" dirty="0">
                <a:solidFill>
                  <a:srgbClr val="2B4A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https://fatou-fa.github.io/mask-detector/detection.html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— Démonstration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Web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📷  Upload d'une photo via la zone de dépôt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22576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2257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 Aperçu immédiat de l'image sélectionnée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907792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90779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Appel API Hugging Face en temps réel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4930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Résultat coloré + barre de confiance animée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078224"/>
            <a:ext cx="5029200" cy="502920"/>
          </a:xfrm>
          <a:prstGeom prst="roundRect">
            <a:avLst>
              <a:gd name="adj" fmla="val 14545"/>
            </a:avLst>
          </a:prstGeom>
          <a:solidFill>
            <a:srgbClr val="2B4A9F">
              <a:alpha val="40000"/>
            </a:srgbClr>
          </a:solidFill>
          <a:ln w="12700">
            <a:solidFill>
              <a:srgbClr val="CADCFC">
                <a:alpha val="3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782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Scores des 3 classes affichés simultanément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fatou-fa.github.io/mask-detector/detection.html</a:t>
            </a:r>
            <a:endParaRPr lang="en-US" sz="1100" dirty="0"/>
          </a:p>
        </p:txBody>
      </p:sp>
      <p:pic>
        <p:nvPicPr>
          <p:cNvPr id="24" name="Image 23">
            <a:extLst>
              <a:ext uri="{FF2B5EF4-FFF2-40B4-BE49-F238E27FC236}">
                <a16:creationId xmlns:a16="http://schemas.microsoft.com/office/drawing/2014/main" id="{ABF64BAA-3DF4-CFAC-6EC2-0865BE638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280160"/>
            <a:ext cx="3043238" cy="33009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— Conclusion &amp; Perspectives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nous avons accompli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444752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de 853 images organisé et analysé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20240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1920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MobileNetV2 entraîné (82.84%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95728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13232" y="23957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Correction du déséquilibre par poids de classes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8712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13232" y="2871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 déployée sur Hugging Face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46704"/>
            <a:ext cx="256032" cy="25603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3232" y="33467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publique sur GitHub Pages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0058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identifiées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1444752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102352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déséquilibré (36 images pour une classe)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20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02352" y="1920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de l'image entière (pas de détection de visage)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39572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3957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!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02352" y="23957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Performances faibles sur les classes minoritaires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possibles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654010" y="275234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3148" y="2752344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Collecter plus de données pour les classes minoritaires (data augmentation avancée)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47473" y="3706177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685032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Ajouter une détection de visage (MTCNN) avant la classification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49300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34930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Intégrer un flux vidéo en temps réel (webcam) dans l'application web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663440" y="417880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73168" y="4178808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  Développer une version mobile avec React Native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2B4A9F">
              <a:alpha val="25000"/>
            </a:srgbClr>
          </a:solidFill>
          <a:ln w="12700">
            <a:solidFill>
              <a:srgbClr val="2B4A9F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4ECDC4">
              <a:alpha val="18000"/>
            </a:srgbClr>
          </a:solidFill>
          <a:ln w="12700">
            <a:solidFill>
              <a:srgbClr val="4ECDC4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4ECD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questions 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889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: </a:t>
            </a: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fatou-fa.github.io/mask-detector/detection.html</a:t>
            </a: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Hugging Face : </a:t>
            </a:r>
            <a:r>
              <a:rPr lang="en-US" sz="12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fatoubintou2-mask-detector.hf.space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d'Intelligence Artificielle · GIT2· IPSL — UGB Saint-Louis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77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MobileNetV2  ·  Transfer Learning  ·  Hugging Face  ·  GitHub Pages  ·  Flask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1462</Words>
  <Application>Microsoft Macintosh PowerPoint</Application>
  <PresentationFormat>Affichage à l'écran (16:9)</PresentationFormat>
  <Paragraphs>253</Paragraphs>
  <Slides>12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Détection de Masque Facial — Computer Vision</dc:title>
  <dc:subject>PptxGenJS Presentation</dc:subject>
  <dc:creator>Groupe IA — ING2 IPSL</dc:creator>
  <cp:lastModifiedBy>fatou fall</cp:lastModifiedBy>
  <cp:revision>2</cp:revision>
  <dcterms:created xsi:type="dcterms:W3CDTF">2026-07-05T21:33:41Z</dcterms:created>
  <dcterms:modified xsi:type="dcterms:W3CDTF">2026-07-05T23:34:32Z</dcterms:modified>
</cp:coreProperties>
</file>