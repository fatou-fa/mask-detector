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6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D4-8143-B981-A3EDB2200359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D4-8143-B981-A3EDB220035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D4-8143-B981-A3EDB220035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2D4-8143-B981-A3EDB220035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2D4-8143-B981-A3EDB220035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2D4-8143-B981-A3EDB220035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Avec masque (698)</c:v>
                </c:pt>
                <c:pt idx="1">
                  <c:v>Sans masque (119)</c:v>
                </c:pt>
                <c:pt idx="2">
                  <c:v>Mal porté (36)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698</c:v>
                </c:pt>
                <c:pt idx="1">
                  <c:v>119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D4-8143-B981-A3EDB2200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SN" sz="1200" b="0" i="0" u="none" strike="noStrike">
                <a:solidFill>
                  <a:srgbClr val="000000"/>
                </a:solidFill>
                <a:latin typeface="Arial"/>
              </a:rPr>
              <a:t>Accuracy par époque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0.4</c:v>
                </c:pt>
                <c:pt idx="1">
                  <c:v>0.53</c:v>
                </c:pt>
                <c:pt idx="2">
                  <c:v>0.57999999999999996</c:v>
                </c:pt>
                <c:pt idx="3">
                  <c:v>0.52</c:v>
                </c:pt>
                <c:pt idx="4">
                  <c:v>0.61</c:v>
                </c:pt>
                <c:pt idx="5">
                  <c:v>0.62</c:v>
                </c:pt>
                <c:pt idx="6">
                  <c:v>0.6</c:v>
                </c:pt>
                <c:pt idx="7">
                  <c:v>0.64</c:v>
                </c:pt>
                <c:pt idx="8">
                  <c:v>0.66</c:v>
                </c:pt>
                <c:pt idx="9">
                  <c:v>0.68</c:v>
                </c:pt>
                <c:pt idx="10">
                  <c:v>0.71</c:v>
                </c:pt>
                <c:pt idx="11">
                  <c:v>0.74</c:v>
                </c:pt>
                <c:pt idx="12">
                  <c:v>0.77</c:v>
                </c:pt>
                <c:pt idx="13">
                  <c:v>0.78</c:v>
                </c:pt>
                <c:pt idx="14">
                  <c:v>0.78</c:v>
                </c:pt>
                <c:pt idx="15">
                  <c:v>0.78</c:v>
                </c:pt>
                <c:pt idx="16">
                  <c:v>0.8</c:v>
                </c:pt>
                <c:pt idx="17">
                  <c:v>0.75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2B9-6D49-A071-A9CC265581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flat">
              <a:solidFill>
                <a:srgbClr val="4ECD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0.41</c:v>
                </c:pt>
                <c:pt idx="1">
                  <c:v>0.63</c:v>
                </c:pt>
                <c:pt idx="2">
                  <c:v>0.45</c:v>
                </c:pt>
                <c:pt idx="3">
                  <c:v>0.81</c:v>
                </c:pt>
                <c:pt idx="4">
                  <c:v>0.64</c:v>
                </c:pt>
                <c:pt idx="5">
                  <c:v>0.8</c:v>
                </c:pt>
                <c:pt idx="6">
                  <c:v>0.69</c:v>
                </c:pt>
                <c:pt idx="7">
                  <c:v>0.76</c:v>
                </c:pt>
                <c:pt idx="8">
                  <c:v>0.79</c:v>
                </c:pt>
                <c:pt idx="9">
                  <c:v>0.77</c:v>
                </c:pt>
                <c:pt idx="10">
                  <c:v>0.8</c:v>
                </c:pt>
                <c:pt idx="11">
                  <c:v>0.81</c:v>
                </c:pt>
                <c:pt idx="12">
                  <c:v>0.82</c:v>
                </c:pt>
                <c:pt idx="13">
                  <c:v>0.76</c:v>
                </c:pt>
                <c:pt idx="14">
                  <c:v>0.62</c:v>
                </c:pt>
                <c:pt idx="15">
                  <c:v>0.73</c:v>
                </c:pt>
                <c:pt idx="16">
                  <c:v>0.8</c:v>
                </c:pt>
                <c:pt idx="17">
                  <c:v>0.72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2B9-6D49-A071-A9CC26558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13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titre. Présenter le sujet, le cours et le contexte. Mentionner que c'est le 3e projet (après Perceptron et MLP).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plan. 6 parties. Durée estimée : 15-20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contexte COVID-19. Insister sur les 3 classes du problème. Lire l'objectif.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déséquilibre des classes. Montrer que 36 images pour mask_weared_incorrect c'est très peu. Expliquer la correction par les poids de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transfer learning : on ne ré-entraîne pas les 154 couches de MobileNetV2, seulement les 5 couches qu'on a ajoutées. C'est plus rapide et plus efficace avec peu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 CNN est une extension du MLP. On a ajouté NOS PROPRES couches denses (comme en cours) au-dessus de MobileNetV2 qui sert d'extracteur de caractéristiques. C'est exactement le principe du Transfer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chaque paramètre simplement. Insister sur Early Stopping et les poids de classes car ce sont les deux choix les plus importants pour notre dataset déséquilibré.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L'accuracy globale de 82.84% est bonne. Expliquer pourquoi without_mask et mask_weared_incorrect ont de faibles métriques : manque de données (119 et 36 images). C'est une vraie problématique de Computer Vision documentée dans le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pipeline complet : Colab pour l'entraînement, Hugging Face pour héberger le modèle comme API, GitHub Pages pour l'interface web. Montrer les deux URLs publiques.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LIVE : ouvrir le navigateur sur https://fatou-fa.github.io/mask-detector/detection.html et uploader une photo de test. Montrer que le résultat s'affiche en quelques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soulignant les acquis : transfer learning, déploiement complet, pipeline de bout en bout. Mentionner les limites honnêtement et proposer des améliorations réalistes.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Afficher la slide et ouvrir aux questions. Avoir l'application ouverte dans un autre onglet pour une démo live si demandé.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75475"/>
            <a:ext cx="5029200" cy="5029200"/>
          </a:xfrm>
          <a:prstGeom prst="ellipse">
            <a:avLst/>
          </a:prstGeom>
          <a:solidFill>
            <a:srgbClr val="2B4A9F">
              <a:alpha val="30000"/>
            </a:srgbClr>
          </a:solidFill>
          <a:ln w="12700">
            <a:solidFill>
              <a:srgbClr val="2B4A9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26380" y="2167128"/>
            <a:ext cx="3783330" cy="3200400"/>
          </a:xfrm>
          <a:prstGeom prst="ellipse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  <p:txBody>
          <a:bodyPr/>
          <a:lstStyle/>
          <a:p>
            <a:r>
              <a:rPr lang="fr-FR" b="1" u="sng" dirty="0">
                <a:solidFill>
                  <a:schemeClr val="bg1"/>
                </a:solidFill>
              </a:rPr>
              <a:t>Groupe </a:t>
            </a:r>
            <a:r>
              <a:rPr lang="fr-FR" dirty="0">
                <a:solidFill>
                  <a:schemeClr val="bg1"/>
                </a:solidFill>
              </a:rPr>
              <a:t>:</a:t>
            </a:r>
          </a:p>
          <a:p>
            <a:r>
              <a:rPr lang="fr-FR" b="1" dirty="0">
                <a:solidFill>
                  <a:schemeClr val="bg1"/>
                </a:solidFill>
              </a:rPr>
              <a:t>Fatou Fall</a:t>
            </a:r>
          </a:p>
          <a:p>
            <a:r>
              <a:rPr lang="fr-FR" b="1" dirty="0">
                <a:solidFill>
                  <a:schemeClr val="bg1"/>
                </a:solidFill>
              </a:rPr>
              <a:t>Jerome Sadio</a:t>
            </a:r>
          </a:p>
          <a:p>
            <a:r>
              <a:rPr lang="fr-FR" b="1" dirty="0">
                <a:solidFill>
                  <a:schemeClr val="bg1"/>
                </a:solidFill>
              </a:rPr>
              <a:t>Gilbert Ngor </a:t>
            </a:r>
            <a:r>
              <a:rPr lang="fr-FR" b="1" dirty="0" err="1">
                <a:solidFill>
                  <a:schemeClr val="bg1"/>
                </a:solidFill>
              </a:rPr>
              <a:t>Thiomby</a:t>
            </a:r>
            <a:r>
              <a:rPr lang="fr-FR" b="1" dirty="0">
                <a:solidFill>
                  <a:schemeClr val="bg1"/>
                </a:solidFill>
              </a:rPr>
              <a:t> Diouf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ECDC4">
              <a:alpha val="8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COMPUTER VISION · 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de Masque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 par Réseau de neurons.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320040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d'Intelligence Artificielle — GIT2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 Polytechnique de Saint-Louis · Université Gaston Berger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4ECDC4">
              <a:alpha val="7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MobileNetV2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D21E">
              <a:alpha val="75000"/>
            </a:srgbClr>
          </a:solidFill>
          <a:ln w="12700">
            <a:solidFill>
              <a:srgbClr val="FFD2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Hugging Face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6EE7B7">
              <a:alpha val="75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801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détecter le masque 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2801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Données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Mask Detection — Kaggle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4688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Modèle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&amp; Transfer Learning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24688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Évaluation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courbes, matrice de confusion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6576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+ Hugging Face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36576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et perspectives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Contexte &amp; Problématique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pandémie de COVID-19 a mis en évidence le besoin de systèmes automatiques capables de vérifier le port du masque dans les lieux publics.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manuelle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Coûteuse, fatigante et peu fiable sur des flux importants de personnes.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temps réel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système automatique doit analyser une image en moins d'une seconde.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précise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3 classes : avec masque, sans masque, masque mal porté.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Construire un système de Computer Vision capable de détecter automatiquement le port du masque facial sur une photo.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Dataset &amp;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Mask Detection Dataset — Kaggle (CC0-1.0)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totales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508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masque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masque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508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12280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Masque incorrect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303520" y="2834640"/>
          <a:ext cx="34747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365760" y="283464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880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Déséquilibre des classes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698 vs 119 vs 36 images — utilisation de poids de classes pour compenser ce déséquilibre lors de l'entraînement.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Prétraitement appliqué :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4160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Redimensionnement à 224×224 pixels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 des pixels entre 0 et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: rotation, zoom, flip horizontal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Architecture du Modèle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 avec MobileNetV2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est un modèle léger pré-entraîné sur 1,4 million d'images (ImageNet). Le Transfer Learning réutilise ces connaissances pour notre tâche spécifique.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25603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01168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2B4A9F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couches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Gelées (ImageNet)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25603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74904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4A90D9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AvgPooling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Flatten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25603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48640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4ECDC4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128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Dropout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6600" y="25603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22376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d'entraînement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4904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Optimiseur 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374904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9651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409651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Crossentropy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443984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439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44439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(early stopping)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749040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74904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 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74904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096512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09651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Couches entraînables 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409651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(tête uniquement)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443984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4439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44439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Pro (T4)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Pourquoi le Transfer Learning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cours → notre projet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Perceptron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neurone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binaire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linéaire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3774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450592" y="14630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15087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0592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2032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couches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neurones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complexe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3774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626864" y="14630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75504" y="15087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6864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+ couches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images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47104" y="23774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803136" y="14630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51776" y="15087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51776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03136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4576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pré-entraîné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réutilisé pour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données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42900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6350">
            <a:solidFill>
              <a:srgbClr val="2B4A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93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822192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comme apprendre à conduire un camion quand on sait déjà conduire une voiture. On ne repart pas de zéro — on réutilise les compétences de base et on adapte seulement ce qui est spécifique au camion.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342900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4930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avons fait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0" y="382219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gelé → extraction des formes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MLP ajouté → classification masque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Entraînement uniquement de notre partie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Justification des Paramètres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Optimiseur : Adam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adapte automatiquement le taux d'apprentissage pour chaque paramètre. Plus efficace que SGD classique pour les réseaux de neurones avec peu de données.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Alternative : SGD (plus lent à converger)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04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: Categorical Crossentropy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Adaptée aux problèmes de classification multi-classes (3 classes ici). Elle mesure l'écart entre les probabilités prédites et les vraies classes.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095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Alternative : Binary Crossentropy (seulement pour 2 classes)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: 20 + Early Stopping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epochs maximum, mais l'Early Stopping arrête l'entraînement automatiquement si la val_loss ne s'améliore plus pendant 5 epochs. Évite le surapprentissage.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535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Sans Early Stopping → risque de surapprentissage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78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 : 32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 entre vitesse et stabilité. Trop petit (8) = entraînement lent. Trop grand (128) = mémoire GPU insuffisante et gradients moins précis.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Testé avec 16 et 64, 32 donne les meilleurs résultats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404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: 0.5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697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Désactive aléatoirement 50% des neurones à chaque epoch. Force le réseau à apprendre des caractéristiques robustes et réduit le surapprentissage.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2095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Sans Dropout → surapprentissage sur nos 853 images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Poids de classes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 le déséquilibre (698 vs 119 vs 36 images). Donne plus d'importance aux classes minoritaires pour que le modèle ne les ignore pas.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535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Sans poids → le modèle prédirait toujours 'with_mask'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Résultats &amp; Évaluation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82.84%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 validation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2377440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2377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par classe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788920"/>
          <a:ext cx="4023360" cy="183489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Avec masque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Sans masque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Masque incorrect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(weighted)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475488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4754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Faibles métriques sur classes minoritaires (données insuffisantes)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Architecture de Déploiement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Kaggle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T4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28600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450592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sauvegardé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mask_detector.keras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2331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82.84%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 MB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228600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626864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Spaces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18304" y="2331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CORS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publique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47104" y="228600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803136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03136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03136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03136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94576" y="2331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+ JS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URLs publiques du projet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Hugging Face : </a:t>
            </a:r>
            <a:r>
              <a:rPr lang="en-US" sz="1100" dirty="0">
                <a:solidFill>
                  <a:srgbClr val="2B4A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https://fatoubintou2-mask-detector.hf.space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3708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: </a:t>
            </a:r>
            <a:r>
              <a:rPr lang="en-US" sz="1100" dirty="0">
                <a:solidFill>
                  <a:srgbClr val="2B4A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https://fatou-fa.github.io/mask-detector/detection.html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Démonstration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Upload d'une photo via la zone de dépôt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22576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22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Aperçu immédiat de l'image sélectionnée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07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Appel API Hugging Face en temps réel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930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Résultat coloré + barre de confiance animée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78224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782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Scores des 3 classes affichés simultanément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fatou-fa.github.io/mask-detector/detection.html</a:t>
            </a:r>
            <a:endParaRPr lang="en-US" sz="1100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ABF64BAA-3DF4-CFAC-6EC2-0865BE638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280160"/>
            <a:ext cx="3043238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— Conclusion &amp; Perspectives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avons accompli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 853 images organisé et analysé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MobileNetV2 entraîné (82.84%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du déséquilibre par poids de classes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2871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déployée sur Hugging Face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3346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publique sur GitHub Pages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identifiées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44475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déséquilibré (36 images pour une classe)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l'image entière (pas de détection de visage)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39572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Performances faibles sur les classes minoritaires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possibles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54010" y="275234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3148" y="275234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Collecter plus de données pour les classes minoritaires (data augmentation avancée)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3" y="3706177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6850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Ajouter une détection de visage (MTCNN) avant la classification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49300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4930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Intégrer un flux vidéo en temps réel (webcam) dans l'application web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17880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41788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Développer une version mobile avec React Native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2B4A9F">
              <a:alpha val="25000"/>
            </a:srgbClr>
          </a:solidFill>
          <a:ln w="12700">
            <a:solidFill>
              <a:srgbClr val="2B4A9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4ECDC4">
              <a:alpha val="18000"/>
            </a:srgbClr>
          </a:solidFill>
          <a:ln w="12700">
            <a:solidFill>
              <a:srgbClr val="4ECDC4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questions 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: </a:t>
            </a: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fatou-fa.github.io/mask-detector/detection.html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Hugging Face : </a:t>
            </a: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fatoubintou2-mask-detector.hf.space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d'Intelligence Artificielle · GIT2· IPSL — UGB Saint-Louis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 ·  Transfer Learning  ·  Hugging Face  ·  GitHub Pages  ·  Flask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1462</Words>
  <Application>Microsoft Macintosh PowerPoint</Application>
  <PresentationFormat>Affichage à l'écran (16:9)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 Masque Facial — Computer Vision</dc:title>
  <dc:subject>PptxGenJS Presentation</dc:subject>
  <dc:creator>Groupe IA — ING2 IPSL</dc:creator>
  <cp:lastModifiedBy>fatou fall</cp:lastModifiedBy>
  <cp:revision>2</cp:revision>
  <dcterms:created xsi:type="dcterms:W3CDTF">2026-07-05T21:33:41Z</dcterms:created>
  <dcterms:modified xsi:type="dcterms:W3CDTF">2026-07-05T23:34:32Z</dcterms:modified>
</cp:coreProperties>
</file>